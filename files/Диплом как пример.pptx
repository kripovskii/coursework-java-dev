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Open Sans Extra Bold" charset="1" panose="020B0906030804020204"/>
      <p:regular r:id="rId21"/>
    </p:embeddedFont>
    <p:embeddedFont>
      <p:font typeface="Poppins" charset="1" panose="00000500000000000000"/>
      <p:regular r:id="rId22"/>
    </p:embeddedFont>
    <p:embeddedFont>
      <p:font typeface="Poppins Bold" charset="1" panose="000008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0.png" Type="http://schemas.openxmlformats.org/officeDocument/2006/relationships/image"/><Relationship Id="rId4" Target="../media/image11.jpe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Relationship Id="rId5" Target="../media/image2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Relationship Id="rId3" Target="../media/image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5.jpeg" Type="http://schemas.openxmlformats.org/officeDocument/2006/relationships/image"/><Relationship Id="rId4" Target="../media/VAGHaYfKm9s.mp4" Type="http://schemas.openxmlformats.org/officeDocument/2006/relationships/video"/><Relationship Id="rId5" Target="../media/VAGHaYfKm9s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7502" y="5590237"/>
            <a:ext cx="14099416" cy="140994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20234" y="-1717598"/>
            <a:ext cx="3735531" cy="37355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7857" y="-643475"/>
            <a:ext cx="1286950" cy="12869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929195" y="8389571"/>
            <a:ext cx="3735531" cy="373553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757394" y="7522582"/>
            <a:ext cx="8779632" cy="1733977"/>
          </a:xfrm>
          <a:custGeom>
            <a:avLst/>
            <a:gdLst/>
            <a:ahLst/>
            <a:cxnLst/>
            <a:rect r="r" b="b" t="t" l="l"/>
            <a:pathLst>
              <a:path h="1733977" w="8779632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8945001" y="3143201"/>
            <a:ext cx="9146584" cy="5246370"/>
            <a:chOff x="0" y="0"/>
            <a:chExt cx="7981950" cy="45783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65810" y="21590"/>
              <a:ext cx="6451600" cy="4326890"/>
            </a:xfrm>
            <a:custGeom>
              <a:avLst/>
              <a:gdLst/>
              <a:ahLst/>
              <a:cxnLst/>
              <a:rect r="r" b="b" t="t" l="l"/>
              <a:pathLst>
                <a:path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242424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981950" cy="4542790"/>
            </a:xfrm>
            <a:custGeom>
              <a:avLst/>
              <a:gdLst/>
              <a:ahLst/>
              <a:cxnLst/>
              <a:rect r="r" b="b" t="t" l="l"/>
              <a:pathLst>
                <a:path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3460750" y="4349750"/>
              <a:ext cx="1059180" cy="96520"/>
            </a:xfrm>
            <a:custGeom>
              <a:avLst/>
              <a:gdLst/>
              <a:ahLst/>
              <a:cxnLst/>
              <a:rect r="r" b="b" t="t" l="l"/>
              <a:pathLst>
                <a:path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63830" y="4542790"/>
              <a:ext cx="7654290" cy="35560"/>
            </a:xfrm>
            <a:custGeom>
              <a:avLst/>
              <a:gdLst/>
              <a:ahLst/>
              <a:cxnLst/>
              <a:rect r="r" b="b" t="t" l="l"/>
              <a:pathLst>
                <a:path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962660" y="276860"/>
              <a:ext cx="6055360" cy="3789680"/>
            </a:xfrm>
            <a:custGeom>
              <a:avLst/>
              <a:gdLst/>
              <a:ahLst/>
              <a:cxnLst/>
              <a:rect r="r" b="b" t="t" l="l"/>
              <a:pathLst>
                <a:path h="3789680" w="6055360">
                  <a:moveTo>
                    <a:pt x="0" y="0"/>
                  </a:moveTo>
                  <a:lnTo>
                    <a:pt x="6055360" y="0"/>
                  </a:lnTo>
                  <a:lnTo>
                    <a:pt x="6055360" y="3789680"/>
                  </a:lnTo>
                  <a:lnTo>
                    <a:pt x="0" y="3789680"/>
                  </a:lnTo>
                  <a:close/>
                </a:path>
              </a:pathLst>
            </a:custGeom>
            <a:blipFill>
              <a:blip r:embed="rId3"/>
              <a:stretch>
                <a:fillRect l="0" t="-3261" r="0" b="-326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2720871" y="847725"/>
            <a:ext cx="12846258" cy="157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19"/>
              </a:lnSpc>
              <a:spcBef>
                <a:spcPct val="0"/>
              </a:spcBef>
            </a:pPr>
            <a:r>
              <a:rPr lang="en-US" sz="9156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Дипломная работа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6330795"/>
            <a:ext cx="7366063" cy="2930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5"/>
              </a:lnSpc>
            </a:pPr>
            <a:r>
              <a:rPr lang="en-US" sz="2753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Руководитель </a:t>
            </a:r>
          </a:p>
          <a:p>
            <a:pPr algn="l">
              <a:lnSpc>
                <a:spcPts val="3855"/>
              </a:lnSpc>
            </a:pPr>
            <a:r>
              <a:rPr lang="en-US" sz="2753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Шнейдер Аркадий Дмитриевич </a:t>
            </a:r>
          </a:p>
          <a:p>
            <a:pPr algn="l">
              <a:lnSpc>
                <a:spcPts val="3855"/>
              </a:lnSpc>
            </a:pPr>
          </a:p>
          <a:p>
            <a:pPr algn="l">
              <a:lnSpc>
                <a:spcPts val="3855"/>
              </a:lnSpc>
            </a:pPr>
            <a:r>
              <a:rPr lang="en-US" sz="2753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Выполнил студент группы СО-ИС-20</a:t>
            </a:r>
          </a:p>
          <a:p>
            <a:pPr algn="l">
              <a:lnSpc>
                <a:spcPts val="3855"/>
              </a:lnSpc>
            </a:pPr>
            <a:r>
              <a:rPr lang="en-US" sz="2753" spc="-55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Клепалов Константин Олегович</a:t>
            </a:r>
          </a:p>
          <a:p>
            <a:pPr algn="l">
              <a:lnSpc>
                <a:spcPts val="3855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0" y="3267649"/>
            <a:ext cx="8663677" cy="221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5"/>
              </a:lnSpc>
              <a:spcBef>
                <a:spcPct val="0"/>
              </a:spcBef>
            </a:pPr>
            <a:r>
              <a:rPr lang="en-US" sz="3153" spc="-63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Разработка серверной части информационной системы по учету заявок по ремонту и обслуживанию медицинской техники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5143500"/>
          </a:xfrm>
          <a:custGeom>
            <a:avLst/>
            <a:gdLst/>
            <a:ahLst/>
            <a:cxnLst/>
            <a:rect r="r" b="b" t="t" l="l"/>
            <a:pathLst>
              <a:path h="5143500" w="18288000">
                <a:moveTo>
                  <a:pt x="0" y="0"/>
                </a:moveTo>
                <a:lnTo>
                  <a:pt x="18288000" y="0"/>
                </a:lnTo>
                <a:lnTo>
                  <a:pt x="18288000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2406" r="0" b="-6448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88217" y="9258300"/>
            <a:ext cx="18476217" cy="1028700"/>
            <a:chOff x="0" y="0"/>
            <a:chExt cx="4866164" cy="2709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66164" cy="270933"/>
            </a:xfrm>
            <a:custGeom>
              <a:avLst/>
              <a:gdLst/>
              <a:ahLst/>
              <a:cxnLst/>
              <a:rect r="r" b="b" t="t" l="l"/>
              <a:pathLst>
                <a:path h="270933" w="4866164">
                  <a:moveTo>
                    <a:pt x="0" y="0"/>
                  </a:moveTo>
                  <a:lnTo>
                    <a:pt x="4866164" y="0"/>
                  </a:lnTo>
                  <a:lnTo>
                    <a:pt x="4866164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5B98BA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66164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367558" y="2590556"/>
            <a:ext cx="11552885" cy="6231528"/>
            <a:chOff x="0" y="0"/>
            <a:chExt cx="3042735" cy="16412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042735" cy="1641225"/>
            </a:xfrm>
            <a:custGeom>
              <a:avLst/>
              <a:gdLst/>
              <a:ahLst/>
              <a:cxnLst/>
              <a:rect r="r" b="b" t="t" l="l"/>
              <a:pathLst>
                <a:path h="1641225" w="3042735">
                  <a:moveTo>
                    <a:pt x="0" y="0"/>
                  </a:moveTo>
                  <a:lnTo>
                    <a:pt x="3042735" y="0"/>
                  </a:lnTo>
                  <a:lnTo>
                    <a:pt x="3042735" y="1641225"/>
                  </a:lnTo>
                  <a:lnTo>
                    <a:pt x="0" y="1641225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042735" cy="1679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814746" y="2903493"/>
            <a:ext cx="12105696" cy="992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95"/>
              </a:lnSpc>
              <a:spcBef>
                <a:spcPct val="0"/>
              </a:spcBef>
            </a:pPr>
            <a:r>
              <a:rPr lang="en-US" sz="5854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Актуальность проекта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96755" y="4236467"/>
            <a:ext cx="10494490" cy="328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88"/>
              </a:lnSpc>
            </a:pPr>
            <a:r>
              <a:rPr lang="en-US" sz="2348" spc="-46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Сеть клиник George Group эксплуатирует большое количество медицинского оборудования, от состояния которого зависит здоровье и  жизнь пациентов.  </a:t>
            </a:r>
          </a:p>
          <a:p>
            <a:pPr algn="just">
              <a:lnSpc>
                <a:spcPts val="3288"/>
              </a:lnSpc>
            </a:pPr>
          </a:p>
          <a:p>
            <a:pPr algn="just">
              <a:lnSpc>
                <a:spcPts val="3288"/>
              </a:lnSpc>
            </a:pPr>
            <a:r>
              <a:rPr lang="en-US" sz="2348" spc="-46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Создание системы заявок для мед. техников позволит автоматизировать процесс обработки и выполнения заявок, что значительно ускорит работу сотрудников и снизит вероятность ошибок. </a:t>
            </a:r>
          </a:p>
          <a:p>
            <a:pPr algn="just">
              <a:lnSpc>
                <a:spcPts val="3288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162562" y="9519920"/>
            <a:ext cx="193477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17814" y="-315404"/>
            <a:ext cx="3964281" cy="10917809"/>
            <a:chOff x="0" y="0"/>
            <a:chExt cx="1044090" cy="28754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44090" cy="2875472"/>
            </a:xfrm>
            <a:custGeom>
              <a:avLst/>
              <a:gdLst/>
              <a:ahLst/>
              <a:cxnLst/>
              <a:rect r="r" b="b" t="t" l="l"/>
              <a:pathLst>
                <a:path h="2875472" w="1044090">
                  <a:moveTo>
                    <a:pt x="0" y="0"/>
                  </a:moveTo>
                  <a:lnTo>
                    <a:pt x="1044090" y="0"/>
                  </a:lnTo>
                  <a:lnTo>
                    <a:pt x="1044090" y="2875472"/>
                  </a:lnTo>
                  <a:lnTo>
                    <a:pt x="0" y="2875472"/>
                  </a:lnTo>
                  <a:close/>
                </a:path>
              </a:pathLst>
            </a:custGeom>
            <a:solidFill>
              <a:srgbClr val="145DA0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44090" cy="29135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867766" y="-1614217"/>
            <a:ext cx="3735531" cy="37355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209769" y="1028700"/>
            <a:ext cx="5049531" cy="8229600"/>
          </a:xfrm>
          <a:custGeom>
            <a:avLst/>
            <a:gdLst/>
            <a:ahLst/>
            <a:cxnLst/>
            <a:rect r="r" b="b" t="t" l="l"/>
            <a:pathLst>
              <a:path h="8229600" w="5049531">
                <a:moveTo>
                  <a:pt x="0" y="0"/>
                </a:moveTo>
                <a:lnTo>
                  <a:pt x="5049531" y="0"/>
                </a:lnTo>
                <a:lnTo>
                  <a:pt x="5049531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2759" t="0" r="-61587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31672" y="895350"/>
            <a:ext cx="9105331" cy="2450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28"/>
              </a:lnSpc>
              <a:spcBef>
                <a:spcPct val="0"/>
              </a:spcBef>
            </a:pPr>
            <a:r>
              <a:rPr lang="en-US" sz="702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Объект и предмет исследования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31672" y="3601486"/>
            <a:ext cx="6524586" cy="1022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Объектами исследования являются клиники George Group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31672" y="5057775"/>
            <a:ext cx="7238533" cy="2537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5"/>
              </a:lnSpc>
              <a:spcBef>
                <a:spcPct val="0"/>
              </a:spcBef>
            </a:pPr>
            <a:r>
              <a:rPr lang="en-US" sz="2853" spc="-57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Предметами исследования являются средства разработки серверной части информационной системы по учету заявок по ремонту и обслуживанию медицинской техники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162562" y="9519920"/>
            <a:ext cx="193477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66830" y="0"/>
            <a:ext cx="5021170" cy="10287000"/>
            <a:chOff x="0" y="0"/>
            <a:chExt cx="132244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244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22448">
                  <a:moveTo>
                    <a:pt x="0" y="0"/>
                  </a:moveTo>
                  <a:lnTo>
                    <a:pt x="1322448" y="0"/>
                  </a:lnTo>
                  <a:lnTo>
                    <a:pt x="13224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2244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09132" y="1222804"/>
            <a:ext cx="7922504" cy="77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Цель и задачи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595820" y="-1782102"/>
            <a:ext cx="3564204" cy="356420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09132" y="2099799"/>
            <a:ext cx="8928257" cy="96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23"/>
              </a:lnSpc>
              <a:spcBef>
                <a:spcPct val="0"/>
              </a:spcBef>
            </a:pPr>
            <a:r>
              <a:rPr lang="en-US" sz="2730" spc="-54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Цель - Разработка серверной части системы заявок для мед. техников</a:t>
            </a:r>
            <a:r>
              <a:rPr lang="en-US" sz="2730" spc="-54" strike="noStrike" u="none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966307" y="300249"/>
            <a:ext cx="8027935" cy="9598729"/>
            <a:chOff x="0" y="0"/>
            <a:chExt cx="8603361" cy="102867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50" y="-127"/>
              <a:ext cx="8603411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3411">
                  <a:moveTo>
                    <a:pt x="8603411" y="10251440"/>
                  </a:moveTo>
                  <a:cubicBezTo>
                    <a:pt x="8603411" y="10284587"/>
                    <a:pt x="8592743" y="10286873"/>
                    <a:pt x="8564930" y="10286873"/>
                  </a:cubicBezTo>
                  <a:cubicBezTo>
                    <a:pt x="5710351" y="10286238"/>
                    <a:pt x="2855899" y="10286238"/>
                    <a:pt x="1320" y="10286238"/>
                  </a:cubicBezTo>
                  <a:cubicBezTo>
                    <a:pt x="-2744" y="10272395"/>
                    <a:pt x="3606" y="10259822"/>
                    <a:pt x="6527" y="10246995"/>
                  </a:cubicBezTo>
                  <a:cubicBezTo>
                    <a:pt x="132003" y="9685401"/>
                    <a:pt x="257606" y="9123934"/>
                    <a:pt x="383463" y="8562467"/>
                  </a:cubicBezTo>
                  <a:cubicBezTo>
                    <a:pt x="562914" y="7761986"/>
                    <a:pt x="742746" y="6961632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5"/>
                    <a:pt x="8602395" y="6846316"/>
                    <a:pt x="8603411" y="10251440"/>
                  </a:cubicBezTo>
                  <a:close/>
                </a:path>
              </a:pathLst>
            </a:custGeom>
            <a:blipFill>
              <a:blip r:embed="rId2"/>
              <a:stretch>
                <a:fillRect l="-28002" t="0" r="-5146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700679" y="7074186"/>
            <a:ext cx="5946973" cy="5946973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09132" y="8902621"/>
            <a:ext cx="11402164" cy="711357"/>
          </a:xfrm>
          <a:custGeom>
            <a:avLst/>
            <a:gdLst/>
            <a:ahLst/>
            <a:cxnLst/>
            <a:rect r="r" b="b" t="t" l="l"/>
            <a:pathLst>
              <a:path h="711357" w="11402164">
                <a:moveTo>
                  <a:pt x="0" y="0"/>
                </a:moveTo>
                <a:lnTo>
                  <a:pt x="11402164" y="0"/>
                </a:lnTo>
                <a:lnTo>
                  <a:pt x="11402164" y="711358"/>
                </a:lnTo>
                <a:lnTo>
                  <a:pt x="0" y="7113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6567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18255" y="3811484"/>
            <a:ext cx="11604233" cy="4891112"/>
            <a:chOff x="0" y="0"/>
            <a:chExt cx="3056259" cy="128819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056259" cy="1288194"/>
            </a:xfrm>
            <a:custGeom>
              <a:avLst/>
              <a:gdLst/>
              <a:ahLst/>
              <a:cxnLst/>
              <a:rect r="r" b="b" t="t" l="l"/>
              <a:pathLst>
                <a:path h="1288194" w="3056259">
                  <a:moveTo>
                    <a:pt x="9340" y="0"/>
                  </a:moveTo>
                  <a:lnTo>
                    <a:pt x="3046919" y="0"/>
                  </a:lnTo>
                  <a:cubicBezTo>
                    <a:pt x="3049396" y="0"/>
                    <a:pt x="3051772" y="984"/>
                    <a:pt x="3053523" y="2736"/>
                  </a:cubicBezTo>
                  <a:cubicBezTo>
                    <a:pt x="3055275" y="4487"/>
                    <a:pt x="3056259" y="6863"/>
                    <a:pt x="3056259" y="9340"/>
                  </a:cubicBezTo>
                  <a:lnTo>
                    <a:pt x="3056259" y="1278854"/>
                  </a:lnTo>
                  <a:cubicBezTo>
                    <a:pt x="3056259" y="1281331"/>
                    <a:pt x="3055275" y="1283707"/>
                    <a:pt x="3053523" y="1285458"/>
                  </a:cubicBezTo>
                  <a:cubicBezTo>
                    <a:pt x="3051772" y="1287210"/>
                    <a:pt x="3049396" y="1288194"/>
                    <a:pt x="3046919" y="1288194"/>
                  </a:cubicBezTo>
                  <a:lnTo>
                    <a:pt x="9340" y="1288194"/>
                  </a:lnTo>
                  <a:cubicBezTo>
                    <a:pt x="6863" y="1288194"/>
                    <a:pt x="4487" y="1287210"/>
                    <a:pt x="2736" y="1285458"/>
                  </a:cubicBezTo>
                  <a:cubicBezTo>
                    <a:pt x="984" y="1283707"/>
                    <a:pt x="0" y="1281331"/>
                    <a:pt x="0" y="1278854"/>
                  </a:cubicBezTo>
                  <a:lnTo>
                    <a:pt x="0" y="9340"/>
                  </a:lnTo>
                  <a:cubicBezTo>
                    <a:pt x="0" y="6863"/>
                    <a:pt x="984" y="4487"/>
                    <a:pt x="2736" y="2736"/>
                  </a:cubicBezTo>
                  <a:cubicBezTo>
                    <a:pt x="4487" y="984"/>
                    <a:pt x="6863" y="0"/>
                    <a:pt x="9340" y="0"/>
                  </a:cubicBezTo>
                  <a:close/>
                </a:path>
              </a:pathLst>
            </a:custGeom>
            <a:solidFill>
              <a:srgbClr val="00569E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056259" cy="1326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278167" y="4639992"/>
            <a:ext cx="9450125" cy="3537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9018" indent="-309509" lvl="1">
              <a:lnSpc>
                <a:spcPts val="4014"/>
              </a:lnSpc>
              <a:buFont typeface="Arial"/>
              <a:buChar char="•"/>
            </a:pPr>
            <a:r>
              <a:rPr lang="en-US" sz="2867" spc="-5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Проанализировать предметную область</a:t>
            </a:r>
          </a:p>
          <a:p>
            <a:pPr algn="l" marL="619018" indent="-309509" lvl="1">
              <a:lnSpc>
                <a:spcPts val="4014"/>
              </a:lnSpc>
              <a:buFont typeface="Arial"/>
              <a:buChar char="•"/>
            </a:pPr>
            <a:r>
              <a:rPr lang="en-US" sz="2867" spc="-5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Проанализировать и выбрать ПО для проектирования серверной части</a:t>
            </a:r>
          </a:p>
          <a:p>
            <a:pPr algn="l" marL="619018" indent="-309509" lvl="1">
              <a:lnSpc>
                <a:spcPts val="4014"/>
              </a:lnSpc>
              <a:buFont typeface="Arial"/>
              <a:buChar char="•"/>
            </a:pPr>
            <a:r>
              <a:rPr lang="en-US" sz="2867" spc="-5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Спроектировать серверную часть системы заявок</a:t>
            </a:r>
          </a:p>
          <a:p>
            <a:pPr algn="l" marL="619018" indent="-309509" lvl="1">
              <a:lnSpc>
                <a:spcPts val="4014"/>
              </a:lnSpc>
              <a:buFont typeface="Arial"/>
              <a:buChar char="•"/>
            </a:pPr>
            <a:r>
              <a:rPr lang="en-US" sz="2867" spc="-5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Разработать серверную часть системы заявок</a:t>
            </a:r>
          </a:p>
          <a:p>
            <a:pPr algn="l" marL="619018" indent="-309509" lvl="1">
              <a:lnSpc>
                <a:spcPts val="4014"/>
              </a:lnSpc>
              <a:buFont typeface="Arial"/>
              <a:buChar char="•"/>
            </a:pPr>
            <a:r>
              <a:rPr lang="en-US" sz="2867" spc="-5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Протестировать серверную часть системы заявок</a:t>
            </a:r>
          </a:p>
          <a:p>
            <a:pPr algn="l" marL="619018" indent="-309509" lvl="1">
              <a:lnSpc>
                <a:spcPts val="4014"/>
              </a:lnSpc>
              <a:buFont typeface="Arial"/>
              <a:buChar char="•"/>
            </a:pPr>
            <a:r>
              <a:rPr lang="en-US" sz="2867" spc="-5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Составить документацию для API приложения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162562" y="9519920"/>
            <a:ext cx="193477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3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78167" y="3306826"/>
            <a:ext cx="3837594" cy="1009316"/>
            <a:chOff x="0" y="0"/>
            <a:chExt cx="1402728" cy="3689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02728" cy="368928"/>
            </a:xfrm>
            <a:custGeom>
              <a:avLst/>
              <a:gdLst/>
              <a:ahLst/>
              <a:cxnLst/>
              <a:rect r="r" b="b" t="t" l="l"/>
              <a:pathLst>
                <a:path h="368928" w="1402728">
                  <a:moveTo>
                    <a:pt x="92800" y="0"/>
                  </a:moveTo>
                  <a:lnTo>
                    <a:pt x="1309928" y="0"/>
                  </a:lnTo>
                  <a:cubicBezTo>
                    <a:pt x="1334540" y="0"/>
                    <a:pt x="1358144" y="9777"/>
                    <a:pt x="1375548" y="27180"/>
                  </a:cubicBezTo>
                  <a:cubicBezTo>
                    <a:pt x="1392951" y="44584"/>
                    <a:pt x="1402728" y="68188"/>
                    <a:pt x="1402728" y="92800"/>
                  </a:cubicBezTo>
                  <a:lnTo>
                    <a:pt x="1402728" y="276128"/>
                  </a:lnTo>
                  <a:cubicBezTo>
                    <a:pt x="1402728" y="300740"/>
                    <a:pt x="1392951" y="324344"/>
                    <a:pt x="1375548" y="341748"/>
                  </a:cubicBezTo>
                  <a:cubicBezTo>
                    <a:pt x="1358144" y="359151"/>
                    <a:pt x="1334540" y="368928"/>
                    <a:pt x="1309928" y="368928"/>
                  </a:cubicBezTo>
                  <a:lnTo>
                    <a:pt x="92800" y="368928"/>
                  </a:lnTo>
                  <a:cubicBezTo>
                    <a:pt x="68188" y="368928"/>
                    <a:pt x="44584" y="359151"/>
                    <a:pt x="27180" y="341748"/>
                  </a:cubicBezTo>
                  <a:cubicBezTo>
                    <a:pt x="9777" y="324344"/>
                    <a:pt x="0" y="300740"/>
                    <a:pt x="0" y="276128"/>
                  </a:cubicBezTo>
                  <a:lnTo>
                    <a:pt x="0" y="92800"/>
                  </a:lnTo>
                  <a:cubicBezTo>
                    <a:pt x="0" y="68188"/>
                    <a:pt x="9777" y="44584"/>
                    <a:pt x="27180" y="27180"/>
                  </a:cubicBezTo>
                  <a:cubicBezTo>
                    <a:pt x="44584" y="9777"/>
                    <a:pt x="68188" y="0"/>
                    <a:pt x="928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569E">
                    <a:alpha val="100000"/>
                  </a:srgbClr>
                </a:gs>
                <a:gs pos="100000">
                  <a:srgbClr val="014074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  <a:ln cap="rnd">
              <a:noFill/>
              <a:prstDash val="solid"/>
              <a:round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1402728" cy="4356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3480"/>
                </a:lnSpc>
                <a:spcBef>
                  <a:spcPct val="0"/>
                </a:spcBef>
              </a:pPr>
              <a:r>
                <a:rPr lang="en-US" b="true" sz="2486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Задачи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14449" y="-2502862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39603" y="1122782"/>
            <a:ext cx="7019697" cy="10556306"/>
            <a:chOff x="0" y="0"/>
            <a:chExt cx="660400" cy="993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993118"/>
            </a:xfrm>
            <a:custGeom>
              <a:avLst/>
              <a:gdLst/>
              <a:ahLst/>
              <a:cxnLst/>
              <a:rect r="r" b="b" t="t" l="l"/>
              <a:pathLst>
                <a:path h="99311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507"/>
                  </a:cubicBezTo>
                  <a:lnTo>
                    <a:pt x="660400" y="993118"/>
                  </a:lnTo>
                  <a:lnTo>
                    <a:pt x="0" y="993118"/>
                  </a:lnTo>
                  <a:lnTo>
                    <a:pt x="0" y="33299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90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614313" y="1459818"/>
            <a:ext cx="6270276" cy="6270276"/>
            <a:chOff x="0" y="0"/>
            <a:chExt cx="8916670" cy="89166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8903970" cy="8903970"/>
            </a:xfrm>
            <a:custGeom>
              <a:avLst/>
              <a:gdLst/>
              <a:ahLst/>
              <a:cxnLst/>
              <a:rect r="r" b="b" t="t" l="l"/>
              <a:pathLst>
                <a:path h="8903970" w="8903970">
                  <a:moveTo>
                    <a:pt x="4451350" y="8903970"/>
                  </a:moveTo>
                  <a:cubicBezTo>
                    <a:pt x="1997710" y="8903970"/>
                    <a:pt x="0" y="6906260"/>
                    <a:pt x="0" y="4451350"/>
                  </a:cubicBezTo>
                  <a:cubicBezTo>
                    <a:pt x="0" y="1996440"/>
                    <a:pt x="1997710" y="0"/>
                    <a:pt x="4451350" y="0"/>
                  </a:cubicBezTo>
                  <a:cubicBezTo>
                    <a:pt x="6904990" y="0"/>
                    <a:pt x="8903970" y="1997710"/>
                    <a:pt x="8903970" y="4451350"/>
                  </a:cubicBezTo>
                  <a:cubicBezTo>
                    <a:pt x="8903970" y="6904990"/>
                    <a:pt x="6906260" y="8903970"/>
                    <a:pt x="4451350" y="8903970"/>
                  </a:cubicBezTo>
                  <a:close/>
                  <a:moveTo>
                    <a:pt x="4451350" y="19050"/>
                  </a:moveTo>
                  <a:cubicBezTo>
                    <a:pt x="2007870" y="19050"/>
                    <a:pt x="19050" y="2007870"/>
                    <a:pt x="19050" y="4451350"/>
                  </a:cubicBezTo>
                  <a:cubicBezTo>
                    <a:pt x="19050" y="6894830"/>
                    <a:pt x="2007870" y="8883650"/>
                    <a:pt x="4451350" y="8883650"/>
                  </a:cubicBezTo>
                  <a:cubicBezTo>
                    <a:pt x="6894830" y="8883650"/>
                    <a:pt x="8883650" y="6894830"/>
                    <a:pt x="8883650" y="4451350"/>
                  </a:cubicBezTo>
                  <a:cubicBezTo>
                    <a:pt x="8883650" y="2007870"/>
                    <a:pt x="6896100" y="19050"/>
                    <a:pt x="4451350" y="1905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54940" y="154940"/>
              <a:ext cx="8605520" cy="8605520"/>
            </a:xfrm>
            <a:custGeom>
              <a:avLst/>
              <a:gdLst/>
              <a:ahLst/>
              <a:cxnLst/>
              <a:rect r="r" b="b" t="t" l="l"/>
              <a:pathLst>
                <a:path h="8605520" w="8605520">
                  <a:moveTo>
                    <a:pt x="8605520" y="4302760"/>
                  </a:moveTo>
                  <a:cubicBezTo>
                    <a:pt x="8605520" y="6678930"/>
                    <a:pt x="6678930" y="8605520"/>
                    <a:pt x="4302760" y="8605520"/>
                  </a:cubicBezTo>
                  <a:cubicBezTo>
                    <a:pt x="1926590" y="8605520"/>
                    <a:pt x="0" y="6680200"/>
                    <a:pt x="0" y="4302760"/>
                  </a:cubicBezTo>
                  <a:cubicBezTo>
                    <a:pt x="0" y="1925320"/>
                    <a:pt x="1926590" y="0"/>
                    <a:pt x="4302760" y="0"/>
                  </a:cubicBezTo>
                  <a:cubicBezTo>
                    <a:pt x="6678930" y="0"/>
                    <a:pt x="8605520" y="1926590"/>
                    <a:pt x="8605520" y="4302760"/>
                  </a:cubicBezTo>
                  <a:close/>
                </a:path>
              </a:pathLst>
            </a:custGeom>
            <a:blipFill>
              <a:blip r:embed="rId2"/>
              <a:stretch>
                <a:fillRect l="-25200" t="0" r="-2520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28700" y="3404260"/>
            <a:ext cx="8883789" cy="3480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3"/>
              </a:lnSpc>
            </a:pPr>
            <a:r>
              <a:rPr lang="en-US" sz="2830" spc="-5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Сеть стоматологических клиник George Group включает в себя 7 стоматологических клиник во Владивостоке и медицинский центр в г. Уссурийске. </a:t>
            </a:r>
          </a:p>
          <a:p>
            <a:pPr algn="l">
              <a:lnSpc>
                <a:spcPts val="3963"/>
              </a:lnSpc>
            </a:pPr>
          </a:p>
          <a:p>
            <a:pPr algn="l" marL="0" indent="0" lvl="0">
              <a:lnSpc>
                <a:spcPts val="3963"/>
              </a:lnSpc>
              <a:spcBef>
                <a:spcPct val="0"/>
              </a:spcBef>
            </a:pPr>
            <a:r>
              <a:rPr lang="en-US" sz="2830" spc="-56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Основным видом деятельности является стоматологическая практика.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07501" y="1579658"/>
            <a:ext cx="7126186" cy="1566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Анализ предметной области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787851" y="9428988"/>
            <a:ext cx="193477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0121775" y="1060472"/>
            <a:ext cx="8541900" cy="8666340"/>
          </a:xfrm>
          <a:custGeom>
            <a:avLst/>
            <a:gdLst/>
            <a:ahLst/>
            <a:cxnLst/>
            <a:rect r="r" b="b" t="t" l="l"/>
            <a:pathLst>
              <a:path h="8666340" w="8541900">
                <a:moveTo>
                  <a:pt x="0" y="0"/>
                </a:moveTo>
                <a:lnTo>
                  <a:pt x="8541901" y="0"/>
                </a:lnTo>
                <a:lnTo>
                  <a:pt x="8541901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2832861" y="810330"/>
            <a:ext cx="8541900" cy="8666340"/>
          </a:xfrm>
          <a:custGeom>
            <a:avLst/>
            <a:gdLst/>
            <a:ahLst/>
            <a:cxnLst/>
            <a:rect r="r" b="b" t="t" l="l"/>
            <a:pathLst>
              <a:path h="8666340" w="8541900">
                <a:moveTo>
                  <a:pt x="0" y="0"/>
                </a:moveTo>
                <a:lnTo>
                  <a:pt x="8541900" y="0"/>
                </a:lnTo>
                <a:lnTo>
                  <a:pt x="8541900" y="8666340"/>
                </a:lnTo>
                <a:lnTo>
                  <a:pt x="0" y="86663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061529" y="3672182"/>
            <a:ext cx="12164941" cy="4412223"/>
            <a:chOff x="0" y="0"/>
            <a:chExt cx="3203935" cy="11620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3935" cy="1162067"/>
            </a:xfrm>
            <a:custGeom>
              <a:avLst/>
              <a:gdLst/>
              <a:ahLst/>
              <a:cxnLst/>
              <a:rect r="r" b="b" t="t" l="l"/>
              <a:pathLst>
                <a:path h="1162067" w="3203935">
                  <a:moveTo>
                    <a:pt x="0" y="0"/>
                  </a:moveTo>
                  <a:lnTo>
                    <a:pt x="3203935" y="0"/>
                  </a:lnTo>
                  <a:lnTo>
                    <a:pt x="3203935" y="1162067"/>
                  </a:lnTo>
                  <a:lnTo>
                    <a:pt x="0" y="1162067"/>
                  </a:lnTo>
                  <a:close/>
                </a:path>
              </a:pathLst>
            </a:custGeom>
            <a:solidFill>
              <a:srgbClr val="145DA0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03935" cy="12001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332775" y="1336704"/>
            <a:ext cx="11622449" cy="1953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ПРОБЛЕМА ОТСУТСТВИЯ СИСТЕМЫ ЗАЯВОК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203273" y="4411850"/>
            <a:ext cx="11881454" cy="28471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06"/>
              </a:lnSpc>
              <a:spcBef>
                <a:spcPct val="0"/>
              </a:spcBef>
            </a:pPr>
            <a:r>
              <a:rPr lang="en-US" sz="2718" spc="-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Отсутствие системы заявок для медицинских техников влечет за собой неэффективное управление заявками, затрудняет приоритизацию задач и создает проблемы с отслеживанием и отчетностью. Это приводит к увеличению административной нагрузки, рискам для безопасности пациентов и усложняет планирование технического обслуживания.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459036" y="9411862"/>
            <a:ext cx="193477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2204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24860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213997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2213997" y="3298645"/>
            <a:ext cx="5841799" cy="5146658"/>
            <a:chOff x="0" y="0"/>
            <a:chExt cx="1554321" cy="13693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554321" cy="1407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224860" y="3298645"/>
            <a:ext cx="5841799" cy="5146658"/>
            <a:chOff x="0" y="0"/>
            <a:chExt cx="1554321" cy="136936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54321" cy="1407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32204" y="3298645"/>
            <a:ext cx="5841799" cy="5146658"/>
            <a:chOff x="0" y="0"/>
            <a:chExt cx="1554321" cy="13693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554321" cy="1407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68420" y="3576763"/>
            <a:ext cx="5570690" cy="3133474"/>
            <a:chOff x="0" y="0"/>
            <a:chExt cx="1128903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3"/>
              <a:stretch>
                <a:fillRect l="0" t="-263" r="0" b="-263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352409" y="3576763"/>
            <a:ext cx="5570690" cy="3133474"/>
            <a:chOff x="0" y="0"/>
            <a:chExt cx="1128903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4"/>
              <a:stretch>
                <a:fillRect l="0" t="-9061" r="0" b="-9061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360414" y="3576763"/>
            <a:ext cx="5570690" cy="3133474"/>
            <a:chOff x="0" y="0"/>
            <a:chExt cx="1128903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5"/>
              <a:stretch>
                <a:fillRect l="0" t="-17861" r="0" b="-17861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3644337" y="1466622"/>
            <a:ext cx="11002845" cy="879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51"/>
              </a:lnSpc>
              <a:spcBef>
                <a:spcPct val="0"/>
              </a:spcBef>
            </a:pPr>
            <a:r>
              <a:rPr lang="en-US" sz="5108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Способы решения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714400" y="7001100"/>
            <a:ext cx="2877407" cy="118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286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Покупка Jira service management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705297" y="6801075"/>
            <a:ext cx="2877407" cy="118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286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Покупка и внедрение модуля для 1С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695434" y="6801075"/>
            <a:ext cx="2877407" cy="1189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286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Разработка собственной системы заявок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572841" y="9426116"/>
            <a:ext cx="193477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2204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213997" y="7686324"/>
            <a:ext cx="5841799" cy="1153755"/>
          </a:xfrm>
          <a:custGeom>
            <a:avLst/>
            <a:gdLst/>
            <a:ahLst/>
            <a:cxnLst/>
            <a:rect r="r" b="b" t="t" l="l"/>
            <a:pathLst>
              <a:path h="1153755" w="5841799">
                <a:moveTo>
                  <a:pt x="0" y="0"/>
                </a:moveTo>
                <a:lnTo>
                  <a:pt x="5841799" y="0"/>
                </a:lnTo>
                <a:lnTo>
                  <a:pt x="5841799" y="1153755"/>
                </a:lnTo>
                <a:lnTo>
                  <a:pt x="0" y="115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9431509" y="3298645"/>
            <a:ext cx="5841799" cy="5146658"/>
            <a:chOff x="0" y="0"/>
            <a:chExt cx="1554321" cy="13693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54321" cy="1407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872996" y="3298645"/>
            <a:ext cx="5841799" cy="5146658"/>
            <a:chOff x="0" y="0"/>
            <a:chExt cx="1554321" cy="13693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54321" cy="1369365"/>
            </a:xfrm>
            <a:custGeom>
              <a:avLst/>
              <a:gdLst/>
              <a:ahLst/>
              <a:cxnLst/>
              <a:rect r="r" b="b" t="t" l="l"/>
              <a:pathLst>
                <a:path h="1369365" w="1554321">
                  <a:moveTo>
                    <a:pt x="58312" y="0"/>
                  </a:moveTo>
                  <a:lnTo>
                    <a:pt x="1496009" y="0"/>
                  </a:lnTo>
                  <a:cubicBezTo>
                    <a:pt x="1511474" y="0"/>
                    <a:pt x="1526306" y="6144"/>
                    <a:pt x="1537241" y="17079"/>
                  </a:cubicBezTo>
                  <a:cubicBezTo>
                    <a:pt x="1548177" y="28015"/>
                    <a:pt x="1554321" y="42846"/>
                    <a:pt x="1554321" y="58312"/>
                  </a:cubicBezTo>
                  <a:lnTo>
                    <a:pt x="1554321" y="1311054"/>
                  </a:lnTo>
                  <a:cubicBezTo>
                    <a:pt x="1554321" y="1326519"/>
                    <a:pt x="1548177" y="1341351"/>
                    <a:pt x="1537241" y="1352286"/>
                  </a:cubicBezTo>
                  <a:cubicBezTo>
                    <a:pt x="1526306" y="1363222"/>
                    <a:pt x="1511474" y="1369365"/>
                    <a:pt x="1496009" y="1369365"/>
                  </a:cubicBezTo>
                  <a:lnTo>
                    <a:pt x="58312" y="1369365"/>
                  </a:lnTo>
                  <a:cubicBezTo>
                    <a:pt x="42846" y="1369365"/>
                    <a:pt x="28015" y="1363222"/>
                    <a:pt x="17079" y="1352286"/>
                  </a:cubicBezTo>
                  <a:cubicBezTo>
                    <a:pt x="6144" y="1341351"/>
                    <a:pt x="0" y="1326519"/>
                    <a:pt x="0" y="1311054"/>
                  </a:cubicBezTo>
                  <a:lnTo>
                    <a:pt x="0" y="58312"/>
                  </a:lnTo>
                  <a:cubicBezTo>
                    <a:pt x="0" y="42846"/>
                    <a:pt x="6144" y="28015"/>
                    <a:pt x="17079" y="17079"/>
                  </a:cubicBezTo>
                  <a:cubicBezTo>
                    <a:pt x="28015" y="6144"/>
                    <a:pt x="42846" y="0"/>
                    <a:pt x="58312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554321" cy="14074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573718" y="7940477"/>
            <a:ext cx="4693046" cy="4693046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08551" y="3576763"/>
            <a:ext cx="5570690" cy="3133474"/>
            <a:chOff x="0" y="0"/>
            <a:chExt cx="11289030" cy="63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3"/>
              <a:stretch>
                <a:fillRect l="0" t="-6894" r="0" b="-6894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9563448" y="3630776"/>
            <a:ext cx="5570690" cy="3133474"/>
            <a:chOff x="0" y="0"/>
            <a:chExt cx="1128903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87760" cy="6348735"/>
            </a:xfrm>
            <a:custGeom>
              <a:avLst/>
              <a:gdLst/>
              <a:ahLst/>
              <a:cxnLst/>
              <a:rect r="r" b="b" t="t" l="l"/>
              <a:pathLst>
                <a:path h="6348735" w="11287760">
                  <a:moveTo>
                    <a:pt x="0" y="5824220"/>
                  </a:moveTo>
                  <a:lnTo>
                    <a:pt x="0" y="525780"/>
                  </a:lnTo>
                  <a:cubicBezTo>
                    <a:pt x="0" y="234950"/>
                    <a:pt x="234950" y="0"/>
                    <a:pt x="525780" y="0"/>
                  </a:cubicBezTo>
                  <a:lnTo>
                    <a:pt x="10761980" y="0"/>
                  </a:lnTo>
                  <a:cubicBezTo>
                    <a:pt x="11052810" y="0"/>
                    <a:pt x="11287760" y="234950"/>
                    <a:pt x="11287760" y="525780"/>
                  </a:cubicBezTo>
                  <a:lnTo>
                    <a:pt x="11287760" y="5822950"/>
                  </a:lnTo>
                  <a:cubicBezTo>
                    <a:pt x="11287760" y="6113780"/>
                    <a:pt x="11052810" y="6348730"/>
                    <a:pt x="10761980" y="6348730"/>
                  </a:cubicBezTo>
                  <a:lnTo>
                    <a:pt x="525780" y="6348730"/>
                  </a:lnTo>
                  <a:cubicBezTo>
                    <a:pt x="236220" y="6350000"/>
                    <a:pt x="0" y="6115050"/>
                    <a:pt x="0" y="5824220"/>
                  </a:cubicBezTo>
                  <a:close/>
                </a:path>
              </a:pathLst>
            </a:custGeom>
            <a:blipFill>
              <a:blip r:embed="rId4"/>
              <a:stretch>
                <a:fillRect l="0" t="-38897" r="0" b="-38897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642577" y="923925"/>
            <a:ext cx="11002845" cy="1784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51"/>
              </a:lnSpc>
              <a:spcBef>
                <a:spcPct val="0"/>
              </a:spcBef>
            </a:pPr>
            <a:r>
              <a:rPr lang="en-US" sz="5108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Сравнение средств проектирования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55193" y="7001100"/>
            <a:ext cx="2877407" cy="38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286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Draw.io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13705" y="7172090"/>
            <a:ext cx="2877407" cy="389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00"/>
              </a:lnSpc>
              <a:spcBef>
                <a:spcPct val="0"/>
              </a:spcBef>
            </a:pPr>
            <a:r>
              <a:rPr lang="en-US" sz="2286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MS VISIO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572841" y="9426116"/>
            <a:ext cx="193477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123887" y="-2346523"/>
            <a:ext cx="4693046" cy="469304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460756" y="1028700"/>
            <a:ext cx="7019697" cy="10556306"/>
            <a:chOff x="0" y="0"/>
            <a:chExt cx="660400" cy="99311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993118"/>
            </a:xfrm>
            <a:custGeom>
              <a:avLst/>
              <a:gdLst/>
              <a:ahLst/>
              <a:cxnLst/>
              <a:rect r="r" b="b" t="t" l="l"/>
              <a:pathLst>
                <a:path h="993118" w="660400">
                  <a:moveTo>
                    <a:pt x="220252" y="19070"/>
                  </a:moveTo>
                  <a:cubicBezTo>
                    <a:pt x="254000" y="7556"/>
                    <a:pt x="292600" y="0"/>
                    <a:pt x="330378" y="0"/>
                  </a:cubicBezTo>
                  <a:cubicBezTo>
                    <a:pt x="368157" y="0"/>
                    <a:pt x="404509" y="6476"/>
                    <a:pt x="438009" y="17990"/>
                  </a:cubicBezTo>
                  <a:cubicBezTo>
                    <a:pt x="438723" y="18350"/>
                    <a:pt x="439435" y="18350"/>
                    <a:pt x="440148" y="18710"/>
                  </a:cubicBezTo>
                  <a:cubicBezTo>
                    <a:pt x="565955" y="64765"/>
                    <a:pt x="658618" y="186379"/>
                    <a:pt x="660400" y="332507"/>
                  </a:cubicBezTo>
                  <a:lnTo>
                    <a:pt x="660400" y="993118"/>
                  </a:lnTo>
                  <a:lnTo>
                    <a:pt x="0" y="993118"/>
                  </a:lnTo>
                  <a:lnTo>
                    <a:pt x="0" y="332998"/>
                  </a:lnTo>
                  <a:cubicBezTo>
                    <a:pt x="1782" y="185660"/>
                    <a:pt x="93019" y="64045"/>
                    <a:pt x="220252" y="1907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88900"/>
              <a:ext cx="660400" cy="904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373413" y="2005331"/>
            <a:ext cx="10597814" cy="8027740"/>
          </a:xfrm>
          <a:custGeom>
            <a:avLst/>
            <a:gdLst/>
            <a:ahLst/>
            <a:cxnLst/>
            <a:rect r="r" b="b" t="t" l="l"/>
            <a:pathLst>
              <a:path h="8027740" w="10597814">
                <a:moveTo>
                  <a:pt x="0" y="0"/>
                </a:moveTo>
                <a:lnTo>
                  <a:pt x="10597815" y="0"/>
                </a:lnTo>
                <a:lnTo>
                  <a:pt x="10597815" y="8027740"/>
                </a:lnTo>
                <a:lnTo>
                  <a:pt x="0" y="8027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50" t="-3499" r="-11045" b="-270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36575" y="438950"/>
            <a:ext cx="11124182" cy="1566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Диаграмма последовательности для прецедента “Создание заявки”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162562" y="9584761"/>
            <a:ext cx="193477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05229" y="-258909"/>
            <a:ext cx="4907787" cy="10295767"/>
          </a:xfrm>
          <a:custGeom>
            <a:avLst/>
            <a:gdLst/>
            <a:ahLst/>
            <a:cxnLst/>
            <a:rect r="r" b="b" t="t" l="l"/>
            <a:pathLst>
              <a:path h="10295767" w="4907787">
                <a:moveTo>
                  <a:pt x="0" y="0"/>
                </a:moveTo>
                <a:lnTo>
                  <a:pt x="4907787" y="0"/>
                </a:lnTo>
                <a:lnTo>
                  <a:pt x="4907787" y="10295767"/>
                </a:lnTo>
                <a:lnTo>
                  <a:pt x="0" y="10295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884" t="0" r="-1988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076" y="2608107"/>
            <a:ext cx="15633499" cy="6699199"/>
            <a:chOff x="0" y="0"/>
            <a:chExt cx="4117465" cy="17643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17465" cy="1764398"/>
            </a:xfrm>
            <a:custGeom>
              <a:avLst/>
              <a:gdLst/>
              <a:ahLst/>
              <a:cxnLst/>
              <a:rect r="r" b="b" t="t" l="l"/>
              <a:pathLst>
                <a:path h="1764398" w="4117465">
                  <a:moveTo>
                    <a:pt x="8419" y="0"/>
                  </a:moveTo>
                  <a:lnTo>
                    <a:pt x="4109046" y="0"/>
                  </a:lnTo>
                  <a:cubicBezTo>
                    <a:pt x="4113696" y="0"/>
                    <a:pt x="4117465" y="3769"/>
                    <a:pt x="4117465" y="8419"/>
                  </a:cubicBezTo>
                  <a:lnTo>
                    <a:pt x="4117465" y="1755979"/>
                  </a:lnTo>
                  <a:cubicBezTo>
                    <a:pt x="4117465" y="1760629"/>
                    <a:pt x="4113696" y="1764398"/>
                    <a:pt x="4109046" y="1764398"/>
                  </a:cubicBezTo>
                  <a:lnTo>
                    <a:pt x="8419" y="1764398"/>
                  </a:lnTo>
                  <a:cubicBezTo>
                    <a:pt x="3769" y="1764398"/>
                    <a:pt x="0" y="1760629"/>
                    <a:pt x="0" y="1755979"/>
                  </a:cubicBezTo>
                  <a:lnTo>
                    <a:pt x="0" y="8419"/>
                  </a:lnTo>
                  <a:cubicBezTo>
                    <a:pt x="0" y="3769"/>
                    <a:pt x="3769" y="0"/>
                    <a:pt x="8419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17465" cy="1802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5276674" y="7690334"/>
            <a:ext cx="4693046" cy="469304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731656" y="5099017"/>
            <a:ext cx="5187188" cy="1709747"/>
          </a:xfrm>
          <a:custGeom>
            <a:avLst/>
            <a:gdLst/>
            <a:ahLst/>
            <a:cxnLst/>
            <a:rect r="r" b="b" t="t" l="l"/>
            <a:pathLst>
              <a:path h="1709747" w="5187188">
                <a:moveTo>
                  <a:pt x="0" y="0"/>
                </a:moveTo>
                <a:lnTo>
                  <a:pt x="5187188" y="0"/>
                </a:lnTo>
                <a:lnTo>
                  <a:pt x="5187188" y="1709747"/>
                </a:lnTo>
                <a:lnTo>
                  <a:pt x="0" y="17097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3374" r="0" b="-27281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730898" y="5106649"/>
            <a:ext cx="4915856" cy="1702115"/>
          </a:xfrm>
          <a:custGeom>
            <a:avLst/>
            <a:gdLst/>
            <a:ahLst/>
            <a:cxnLst/>
            <a:rect r="r" b="b" t="t" l="l"/>
            <a:pathLst>
              <a:path h="1702115" w="4915856">
                <a:moveTo>
                  <a:pt x="0" y="0"/>
                </a:moveTo>
                <a:lnTo>
                  <a:pt x="4915856" y="0"/>
                </a:lnTo>
                <a:lnTo>
                  <a:pt x="4915856" y="1702115"/>
                </a:lnTo>
                <a:lnTo>
                  <a:pt x="0" y="17021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904427" y="5034247"/>
            <a:ext cx="4401604" cy="1839287"/>
          </a:xfrm>
          <a:custGeom>
            <a:avLst/>
            <a:gdLst/>
            <a:ahLst/>
            <a:cxnLst/>
            <a:rect r="r" b="b" t="t" l="l"/>
            <a:pathLst>
              <a:path h="1839287" w="4401604">
                <a:moveTo>
                  <a:pt x="0" y="0"/>
                </a:moveTo>
                <a:lnTo>
                  <a:pt x="4401604" y="0"/>
                </a:lnTo>
                <a:lnTo>
                  <a:pt x="4401604" y="1839287"/>
                </a:lnTo>
                <a:lnTo>
                  <a:pt x="0" y="18392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31656" y="257776"/>
            <a:ext cx="13059540" cy="2065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02"/>
              </a:lnSpc>
              <a:spcBef>
                <a:spcPct val="0"/>
              </a:spcBef>
            </a:pPr>
            <a:r>
              <a:rPr lang="en-US" sz="593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Сравнение Backend фреймворков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3493" y="9588547"/>
            <a:ext cx="193477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71479" y="-265776"/>
            <a:ext cx="4907787" cy="10295767"/>
          </a:xfrm>
          <a:custGeom>
            <a:avLst/>
            <a:gdLst/>
            <a:ahLst/>
            <a:cxnLst/>
            <a:rect r="r" b="b" t="t" l="l"/>
            <a:pathLst>
              <a:path h="10295767" w="4907787">
                <a:moveTo>
                  <a:pt x="0" y="0"/>
                </a:moveTo>
                <a:lnTo>
                  <a:pt x="4907787" y="0"/>
                </a:lnTo>
                <a:lnTo>
                  <a:pt x="4907787" y="10295767"/>
                </a:lnTo>
                <a:lnTo>
                  <a:pt x="0" y="102957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884" t="0" r="-1988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082700" y="2559101"/>
            <a:ext cx="15633499" cy="6699199"/>
            <a:chOff x="0" y="0"/>
            <a:chExt cx="4117465" cy="17643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117465" cy="1764398"/>
            </a:xfrm>
            <a:custGeom>
              <a:avLst/>
              <a:gdLst/>
              <a:ahLst/>
              <a:cxnLst/>
              <a:rect r="r" b="b" t="t" l="l"/>
              <a:pathLst>
                <a:path h="1764398" w="4117465">
                  <a:moveTo>
                    <a:pt x="8419" y="0"/>
                  </a:moveTo>
                  <a:lnTo>
                    <a:pt x="4109046" y="0"/>
                  </a:lnTo>
                  <a:cubicBezTo>
                    <a:pt x="4113696" y="0"/>
                    <a:pt x="4117465" y="3769"/>
                    <a:pt x="4117465" y="8419"/>
                  </a:cubicBezTo>
                  <a:lnTo>
                    <a:pt x="4117465" y="1755979"/>
                  </a:lnTo>
                  <a:cubicBezTo>
                    <a:pt x="4117465" y="1760629"/>
                    <a:pt x="4113696" y="1764398"/>
                    <a:pt x="4109046" y="1764398"/>
                  </a:cubicBezTo>
                  <a:lnTo>
                    <a:pt x="8419" y="1764398"/>
                  </a:lnTo>
                  <a:cubicBezTo>
                    <a:pt x="3769" y="1764398"/>
                    <a:pt x="0" y="1760629"/>
                    <a:pt x="0" y="1755979"/>
                  </a:cubicBezTo>
                  <a:lnTo>
                    <a:pt x="0" y="8419"/>
                  </a:lnTo>
                  <a:cubicBezTo>
                    <a:pt x="0" y="3769"/>
                    <a:pt x="3769" y="0"/>
                    <a:pt x="8419" y="0"/>
                  </a:cubicBezTo>
                  <a:close/>
                </a:path>
              </a:pathLst>
            </a:custGeom>
            <a:solidFill>
              <a:srgbClr val="FDFD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117465" cy="18024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2610347" y="7940477"/>
            <a:ext cx="4693046" cy="469304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535454" y="4640744"/>
            <a:ext cx="4728991" cy="2535913"/>
          </a:xfrm>
          <a:custGeom>
            <a:avLst/>
            <a:gdLst/>
            <a:ahLst/>
            <a:cxnLst/>
            <a:rect r="r" b="b" t="t" l="l"/>
            <a:pathLst>
              <a:path h="2535913" w="4728991">
                <a:moveTo>
                  <a:pt x="0" y="0"/>
                </a:moveTo>
                <a:lnTo>
                  <a:pt x="4728991" y="0"/>
                </a:lnTo>
                <a:lnTo>
                  <a:pt x="4728991" y="2535913"/>
                </a:lnTo>
                <a:lnTo>
                  <a:pt x="0" y="2535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447" r="0" b="-2447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996080" y="4291148"/>
            <a:ext cx="3453980" cy="3453980"/>
          </a:xfrm>
          <a:custGeom>
            <a:avLst/>
            <a:gdLst/>
            <a:ahLst/>
            <a:cxnLst/>
            <a:rect r="r" b="b" t="t" l="l"/>
            <a:pathLst>
              <a:path h="3453980" w="3453980">
                <a:moveTo>
                  <a:pt x="0" y="0"/>
                </a:moveTo>
                <a:lnTo>
                  <a:pt x="3453979" y="0"/>
                </a:lnTo>
                <a:lnTo>
                  <a:pt x="3453979" y="3453980"/>
                </a:lnTo>
                <a:lnTo>
                  <a:pt x="0" y="34539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181694" y="4441281"/>
            <a:ext cx="4405348" cy="2934839"/>
          </a:xfrm>
          <a:custGeom>
            <a:avLst/>
            <a:gdLst/>
            <a:ahLst/>
            <a:cxnLst/>
            <a:rect r="r" b="b" t="t" l="l"/>
            <a:pathLst>
              <a:path h="2934839" w="4405348">
                <a:moveTo>
                  <a:pt x="0" y="0"/>
                </a:moveTo>
                <a:lnTo>
                  <a:pt x="4405348" y="0"/>
                </a:lnTo>
                <a:lnTo>
                  <a:pt x="4405348" y="2934839"/>
                </a:lnTo>
                <a:lnTo>
                  <a:pt x="0" y="29348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536593" y="304678"/>
            <a:ext cx="13059540" cy="2059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302"/>
              </a:lnSpc>
              <a:spcBef>
                <a:spcPct val="0"/>
              </a:spcBef>
            </a:pPr>
            <a:r>
              <a:rPr lang="en-US" sz="593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Сравнение средств  развёртывания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065823" y="9581680"/>
            <a:ext cx="386953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FFFFF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56283" y="-2445901"/>
            <a:ext cx="15178802" cy="1517880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007842" y="-1797460"/>
            <a:ext cx="13881919" cy="1388191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3929344"/>
            <a:ext cx="6033363" cy="2463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553"/>
              </a:lnSpc>
              <a:spcBef>
                <a:spcPct val="0"/>
              </a:spcBef>
            </a:pPr>
            <a:r>
              <a:rPr lang="en-US" sz="4680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Выбранные средства для разработки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618101" y="1767991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0280481" y="2101977"/>
            <a:ext cx="5768345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3599" spc="-71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Express JS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763159" y="2041203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01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144000" y="3541391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9289058" y="3814603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144000" y="5318072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6" y="0"/>
                </a:lnTo>
                <a:lnTo>
                  <a:pt x="1424256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9289058" y="5591284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03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618101" y="7094753"/>
            <a:ext cx="1424256" cy="1424256"/>
          </a:xfrm>
          <a:custGeom>
            <a:avLst/>
            <a:gdLst/>
            <a:ahLst/>
            <a:cxnLst/>
            <a:rect r="r" b="b" t="t" l="l"/>
            <a:pathLst>
              <a:path h="1424256" w="1424256">
                <a:moveTo>
                  <a:pt x="0" y="0"/>
                </a:moveTo>
                <a:lnTo>
                  <a:pt x="1424255" y="0"/>
                </a:lnTo>
                <a:lnTo>
                  <a:pt x="1424255" y="1424256"/>
                </a:lnTo>
                <a:lnTo>
                  <a:pt x="0" y="1424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8763159" y="7367965"/>
            <a:ext cx="1134140" cy="801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697"/>
              </a:lnSpc>
              <a:spcBef>
                <a:spcPct val="0"/>
              </a:spcBef>
            </a:pPr>
            <a:r>
              <a:rPr lang="en-US" sz="4784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905455" y="2656032"/>
            <a:ext cx="373607" cy="37360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315313" y="4180490"/>
            <a:ext cx="373607" cy="37360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944228" y="7402839"/>
            <a:ext cx="373607" cy="373607"/>
            <a:chOff x="0" y="0"/>
            <a:chExt cx="812800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309460" y="5760481"/>
            <a:ext cx="373607" cy="373607"/>
            <a:chOff x="0" y="0"/>
            <a:chExt cx="812800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DFDFD"/>
            </a:solidFill>
            <a:ln w="38100" cap="sq">
              <a:solidFill>
                <a:srgbClr val="00569E"/>
              </a:solidFill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40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0776827" y="3802347"/>
            <a:ext cx="5768345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3599" spc="-71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SWAGGER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76827" y="5652057"/>
            <a:ext cx="5768345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3599" spc="-71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Docker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0481" y="7428128"/>
            <a:ext cx="5768345" cy="651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b="true" sz="3599" spc="-71">
                <a:solidFill>
                  <a:srgbClr val="145DA0"/>
                </a:solidFill>
                <a:latin typeface="Poppins Bold"/>
                <a:ea typeface="Poppins Bold"/>
                <a:cs typeface="Poppins Bold"/>
                <a:sym typeface="Poppins Bold"/>
              </a:rPr>
              <a:t>Kubernetes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872347" y="9441750"/>
            <a:ext cx="386953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242424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283153"/>
            <a:ext cx="14559035" cy="7546156"/>
            <a:chOff x="0" y="0"/>
            <a:chExt cx="4076854" cy="21130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76853" cy="2113092"/>
            </a:xfrm>
            <a:custGeom>
              <a:avLst/>
              <a:gdLst/>
              <a:ahLst/>
              <a:cxnLst/>
              <a:rect r="r" b="b" t="t" l="l"/>
              <a:pathLst>
                <a:path h="2113092" w="4076853">
                  <a:moveTo>
                    <a:pt x="0" y="0"/>
                  </a:moveTo>
                  <a:lnTo>
                    <a:pt x="4076853" y="0"/>
                  </a:lnTo>
                  <a:lnTo>
                    <a:pt x="4076853" y="2113092"/>
                  </a:lnTo>
                  <a:lnTo>
                    <a:pt x="0" y="2113092"/>
                  </a:ln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76854" cy="2151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480044" y="1516131"/>
            <a:ext cx="6181149" cy="1786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129"/>
              </a:lnSpc>
              <a:spcBef>
                <a:spcPct val="0"/>
              </a:spcBef>
            </a:pPr>
            <a:r>
              <a:rPr lang="en-US" sz="5092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Предполагаемые результаты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960018"/>
            <a:ext cx="13720564" cy="4126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2795" indent="-316397" lvl="1">
              <a:lnSpc>
                <a:spcPts val="4103"/>
              </a:lnSpc>
              <a:buFont typeface="Arial"/>
              <a:buChar char="•"/>
            </a:pPr>
            <a:r>
              <a:rPr lang="en-US" sz="2930" spc="-58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Повышение эффективности управления заявками</a:t>
            </a:r>
          </a:p>
          <a:p>
            <a:pPr algn="l" marL="632795" indent="-316397" lvl="1">
              <a:lnSpc>
                <a:spcPts val="4103"/>
              </a:lnSpc>
              <a:buFont typeface="Arial"/>
              <a:buChar char="•"/>
            </a:pPr>
            <a:r>
              <a:rPr lang="en-US" sz="2930" spc="-58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Лучшая приоретизация задач</a:t>
            </a:r>
          </a:p>
          <a:p>
            <a:pPr algn="l" marL="632795" indent="-316397" lvl="1">
              <a:lnSpc>
                <a:spcPts val="4103"/>
              </a:lnSpc>
              <a:buFont typeface="Arial"/>
              <a:buChar char="•"/>
            </a:pPr>
            <a:r>
              <a:rPr lang="en-US" sz="2930" spc="-58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Улучшенное отслеживание и отчетность</a:t>
            </a:r>
          </a:p>
          <a:p>
            <a:pPr algn="l" marL="632795" indent="-316397" lvl="1">
              <a:lnSpc>
                <a:spcPts val="4103"/>
              </a:lnSpc>
              <a:buFont typeface="Arial"/>
              <a:buChar char="•"/>
            </a:pPr>
            <a:r>
              <a:rPr lang="en-US" sz="2930" spc="-58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Сокращение времени реагирования</a:t>
            </a:r>
          </a:p>
          <a:p>
            <a:pPr algn="l" marL="632795" indent="-316397" lvl="1">
              <a:lnSpc>
                <a:spcPts val="4103"/>
              </a:lnSpc>
              <a:buFont typeface="Arial"/>
              <a:buChar char="•"/>
            </a:pPr>
            <a:r>
              <a:rPr lang="en-US" sz="2930" spc="-58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Увеличение безопасности пациентов</a:t>
            </a:r>
          </a:p>
          <a:p>
            <a:pPr algn="l" marL="632795" indent="-316397" lvl="1">
              <a:lnSpc>
                <a:spcPts val="4103"/>
              </a:lnSpc>
              <a:buFont typeface="Arial"/>
              <a:buChar char="•"/>
            </a:pPr>
            <a:r>
              <a:rPr lang="en-US" sz="2930" spc="-58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Оптимизация планирования обслуживания</a:t>
            </a:r>
          </a:p>
          <a:p>
            <a:pPr algn="l" marL="632795" indent="-316397" lvl="1">
              <a:lnSpc>
                <a:spcPts val="4103"/>
              </a:lnSpc>
              <a:buFont typeface="Arial"/>
              <a:buChar char="•"/>
            </a:pPr>
            <a:r>
              <a:rPr lang="en-US" sz="2930" spc="-58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Большая прозрачность и аналитика</a:t>
            </a:r>
          </a:p>
          <a:p>
            <a:pPr algn="l" marL="0" indent="0" lvl="0">
              <a:lnSpc>
                <a:spcPts val="4103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8829309"/>
            <a:ext cx="7523780" cy="428991"/>
            <a:chOff x="0" y="0"/>
            <a:chExt cx="2106826" cy="12012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06826" cy="120127"/>
            </a:xfrm>
            <a:custGeom>
              <a:avLst/>
              <a:gdLst/>
              <a:ahLst/>
              <a:cxnLst/>
              <a:rect r="r" b="b" t="t" l="l"/>
              <a:pathLst>
                <a:path h="120127" w="2106826">
                  <a:moveTo>
                    <a:pt x="0" y="0"/>
                  </a:moveTo>
                  <a:lnTo>
                    <a:pt x="2106826" y="0"/>
                  </a:lnTo>
                  <a:lnTo>
                    <a:pt x="2106826" y="120127"/>
                  </a:lnTo>
                  <a:lnTo>
                    <a:pt x="0" y="120127"/>
                  </a:lnTo>
                  <a:close/>
                </a:path>
              </a:pathLst>
            </a:custGeom>
            <a:solidFill>
              <a:srgbClr val="145DA0">
                <a:alpha val="4862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06826" cy="1582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238003" y="8290589"/>
            <a:ext cx="7523780" cy="75237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-3724222" y="-4507687"/>
            <a:ext cx="5924489" cy="5924489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065823" y="9519920"/>
            <a:ext cx="386953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266830" y="0"/>
            <a:ext cx="5021170" cy="10287000"/>
            <a:chOff x="0" y="0"/>
            <a:chExt cx="1322448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22448" cy="2709333"/>
            </a:xfrm>
            <a:custGeom>
              <a:avLst/>
              <a:gdLst/>
              <a:ahLst/>
              <a:cxnLst/>
              <a:rect r="r" b="b" t="t" l="l"/>
              <a:pathLst>
                <a:path h="2709333" w="1322448">
                  <a:moveTo>
                    <a:pt x="0" y="0"/>
                  </a:moveTo>
                  <a:lnTo>
                    <a:pt x="1322448" y="0"/>
                  </a:lnTo>
                  <a:lnTo>
                    <a:pt x="132244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2244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609132" y="1222804"/>
            <a:ext cx="7922504" cy="771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00"/>
              </a:lnSpc>
              <a:spcBef>
                <a:spcPct val="0"/>
              </a:spcBef>
            </a:pPr>
            <a:r>
              <a:rPr lang="en-US" sz="4500">
                <a:solidFill>
                  <a:srgbClr val="051D40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Результат работы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1595820" y="-1782102"/>
            <a:ext cx="3564204" cy="3564204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051D40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66307" y="300249"/>
            <a:ext cx="8027935" cy="9598729"/>
            <a:chOff x="0" y="0"/>
            <a:chExt cx="8603361" cy="1028674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50" y="-127"/>
              <a:ext cx="8603411" cy="10286873"/>
            </a:xfrm>
            <a:custGeom>
              <a:avLst/>
              <a:gdLst/>
              <a:ahLst/>
              <a:cxnLst/>
              <a:rect r="r" b="b" t="t" l="l"/>
              <a:pathLst>
                <a:path h="10286873" w="8603411">
                  <a:moveTo>
                    <a:pt x="8603411" y="10251440"/>
                  </a:moveTo>
                  <a:cubicBezTo>
                    <a:pt x="8603411" y="10284587"/>
                    <a:pt x="8592743" y="10286873"/>
                    <a:pt x="8564930" y="10286873"/>
                  </a:cubicBezTo>
                  <a:cubicBezTo>
                    <a:pt x="5710351" y="10286238"/>
                    <a:pt x="2855899" y="10286238"/>
                    <a:pt x="1320" y="10286238"/>
                  </a:cubicBezTo>
                  <a:cubicBezTo>
                    <a:pt x="-2744" y="10272395"/>
                    <a:pt x="3606" y="10259822"/>
                    <a:pt x="6527" y="10246995"/>
                  </a:cubicBezTo>
                  <a:cubicBezTo>
                    <a:pt x="132003" y="9685401"/>
                    <a:pt x="257606" y="9123934"/>
                    <a:pt x="383463" y="8562467"/>
                  </a:cubicBezTo>
                  <a:cubicBezTo>
                    <a:pt x="562914" y="7761986"/>
                    <a:pt x="742746" y="6961632"/>
                    <a:pt x="922070" y="6161151"/>
                  </a:cubicBezTo>
                  <a:cubicBezTo>
                    <a:pt x="1143558" y="5172583"/>
                    <a:pt x="1364538" y="4184015"/>
                    <a:pt x="1585899" y="3195574"/>
                  </a:cubicBezTo>
                  <a:cubicBezTo>
                    <a:pt x="1810816" y="2191385"/>
                    <a:pt x="2035860" y="1187323"/>
                    <a:pt x="2261412" y="183261"/>
                  </a:cubicBezTo>
                  <a:cubicBezTo>
                    <a:pt x="2275128" y="122174"/>
                    <a:pt x="2283891" y="59690"/>
                    <a:pt x="2306116" y="635"/>
                  </a:cubicBezTo>
                  <a:cubicBezTo>
                    <a:pt x="4392472" y="635"/>
                    <a:pt x="6478828" y="635"/>
                    <a:pt x="8565184" y="0"/>
                  </a:cubicBezTo>
                  <a:cubicBezTo>
                    <a:pt x="8593505" y="0"/>
                    <a:pt x="8603157" y="3429"/>
                    <a:pt x="8603157" y="35814"/>
                  </a:cubicBezTo>
                  <a:cubicBezTo>
                    <a:pt x="8602395" y="3441065"/>
                    <a:pt x="8602395" y="6846316"/>
                    <a:pt x="8603411" y="10251440"/>
                  </a:cubicBezTo>
                  <a:close/>
                </a:path>
              </a:pathLst>
            </a:custGeom>
            <a:blipFill>
              <a:blip r:embed="rId2"/>
              <a:stretch>
                <a:fillRect l="-28002" t="0" r="-51461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4700679" y="7074186"/>
            <a:ext cx="5946973" cy="594697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FFFFFF">
                  <a:alpha val="15686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594175" y="8410948"/>
            <a:ext cx="11402164" cy="711357"/>
          </a:xfrm>
          <a:custGeom>
            <a:avLst/>
            <a:gdLst/>
            <a:ahLst/>
            <a:cxnLst/>
            <a:rect r="r" b="b" t="t" l="l"/>
            <a:pathLst>
              <a:path h="711357" w="11402164">
                <a:moveTo>
                  <a:pt x="0" y="0"/>
                </a:moveTo>
                <a:lnTo>
                  <a:pt x="11402164" y="0"/>
                </a:lnTo>
                <a:lnTo>
                  <a:pt x="11402164" y="711358"/>
                </a:lnTo>
                <a:lnTo>
                  <a:pt x="0" y="7113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6567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61661" y="2903874"/>
            <a:ext cx="11387207" cy="5507075"/>
            <a:chOff x="0" y="0"/>
            <a:chExt cx="2999100" cy="145042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999100" cy="1450423"/>
            </a:xfrm>
            <a:custGeom>
              <a:avLst/>
              <a:gdLst/>
              <a:ahLst/>
              <a:cxnLst/>
              <a:rect r="r" b="b" t="t" l="l"/>
              <a:pathLst>
                <a:path h="1450423" w="2999100">
                  <a:moveTo>
                    <a:pt x="9518" y="0"/>
                  </a:moveTo>
                  <a:lnTo>
                    <a:pt x="2989581" y="0"/>
                  </a:lnTo>
                  <a:cubicBezTo>
                    <a:pt x="2992106" y="0"/>
                    <a:pt x="2994527" y="1003"/>
                    <a:pt x="2996312" y="2788"/>
                  </a:cubicBezTo>
                  <a:cubicBezTo>
                    <a:pt x="2998097" y="4573"/>
                    <a:pt x="2999100" y="6994"/>
                    <a:pt x="2999100" y="9518"/>
                  </a:cubicBezTo>
                  <a:lnTo>
                    <a:pt x="2999100" y="1440905"/>
                  </a:lnTo>
                  <a:cubicBezTo>
                    <a:pt x="2999100" y="1446162"/>
                    <a:pt x="2994838" y="1450423"/>
                    <a:pt x="2989581" y="1450423"/>
                  </a:cubicBezTo>
                  <a:lnTo>
                    <a:pt x="9518" y="1450423"/>
                  </a:lnTo>
                  <a:cubicBezTo>
                    <a:pt x="4261" y="1450423"/>
                    <a:pt x="0" y="1446162"/>
                    <a:pt x="0" y="1440905"/>
                  </a:cubicBezTo>
                  <a:lnTo>
                    <a:pt x="0" y="9518"/>
                  </a:lnTo>
                  <a:cubicBezTo>
                    <a:pt x="0" y="6994"/>
                    <a:pt x="1003" y="4573"/>
                    <a:pt x="2788" y="2788"/>
                  </a:cubicBezTo>
                  <a:cubicBezTo>
                    <a:pt x="4573" y="1003"/>
                    <a:pt x="6994" y="0"/>
                    <a:pt x="9518" y="0"/>
                  </a:cubicBezTo>
                  <a:close/>
                </a:path>
              </a:pathLst>
            </a:custGeom>
            <a:solidFill>
              <a:srgbClr val="00569E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999100" cy="14885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4130755"/>
            <a:ext cx="8928257" cy="968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823"/>
              </a:lnSpc>
              <a:spcBef>
                <a:spcPct val="0"/>
              </a:spcBef>
            </a:pPr>
            <a:r>
              <a:rPr lang="en-US" sz="2730" spc="-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Разработана серверная часть системы заявок для мед. техников</a:t>
            </a:r>
            <a:r>
              <a:rPr lang="en-US" sz="2730" spc="-54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6096649"/>
            <a:ext cx="3083613" cy="854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14"/>
              </a:lnSpc>
              <a:spcBef>
                <a:spcPct val="0"/>
              </a:spcBef>
            </a:pPr>
            <a:r>
              <a:rPr lang="en-US" sz="2367" spc="-4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Проанализированна предметная область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20272" y="5859794"/>
            <a:ext cx="2661498" cy="1327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54"/>
              </a:lnSpc>
              <a:spcBef>
                <a:spcPct val="0"/>
              </a:spcBef>
            </a:pPr>
            <a:r>
              <a:rPr lang="en-US" sz="2467" spc="-4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Спроектирована серверная часть системы заявок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391395" y="5661394"/>
            <a:ext cx="2821751" cy="2111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4"/>
              </a:lnSpc>
            </a:pPr>
            <a:r>
              <a:rPr lang="en-US" sz="2367" spc="-47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Разработан API и основные механизмы серверной части</a:t>
            </a:r>
          </a:p>
          <a:p>
            <a:pPr algn="ctr" marL="0" indent="0" lvl="0">
              <a:lnSpc>
                <a:spcPts val="3314"/>
              </a:lnSpc>
              <a:spcBef>
                <a:spcPct val="0"/>
              </a:spcBef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7065823" y="9519920"/>
            <a:ext cx="386953" cy="44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sz="2599">
                <a:solidFill>
                  <a:srgbClr val="FDFDFD"/>
                </a:solidFill>
                <a:latin typeface="Open Sans Extra Bold"/>
                <a:ea typeface="Open Sans Extra Bold"/>
                <a:cs typeface="Open Sans Extra Bold"/>
                <a:sym typeface="Open Sans Extra Bold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D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7502" y="5590237"/>
            <a:ext cx="14099416" cy="14099416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420234" y="-1717598"/>
            <a:ext cx="3735531" cy="3735531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7857" y="-643475"/>
            <a:ext cx="1286950" cy="128695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929195" y="8389571"/>
            <a:ext cx="3735531" cy="373553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solidFill>
                <a:srgbClr val="145DA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757394" y="7522582"/>
            <a:ext cx="8779632" cy="1733977"/>
          </a:xfrm>
          <a:custGeom>
            <a:avLst/>
            <a:gdLst/>
            <a:ahLst/>
            <a:cxnLst/>
            <a:rect r="r" b="b" t="t" l="l"/>
            <a:pathLst>
              <a:path h="1733977" w="8779632">
                <a:moveTo>
                  <a:pt x="0" y="0"/>
                </a:moveTo>
                <a:lnTo>
                  <a:pt x="8779632" y="0"/>
                </a:lnTo>
                <a:lnTo>
                  <a:pt x="8779632" y="1733977"/>
                </a:lnTo>
                <a:lnTo>
                  <a:pt x="0" y="1733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15" id="15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664098" y="373555"/>
            <a:ext cx="16959804" cy="95398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DAGHWAIgvv8</dc:identifier>
  <dcterms:modified xsi:type="dcterms:W3CDTF">2011-08-01T06:04:30Z</dcterms:modified>
  <cp:revision>1</cp:revision>
  <dc:title>White and Blue Professional Modern Technology Pitch Deck Presentation</dc:title>
</cp:coreProperties>
</file>